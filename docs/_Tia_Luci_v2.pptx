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2de8adcb3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a2de8adcb3_0_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2de8adcb3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a2de8adcb3_0_1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2de8adcb3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a2de8adcb3_0_1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2de8adcb3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a2de8adcb3_0_1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2de8adcb3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a2de8adcb3_0_1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2de8adcb3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a2de8adcb3_0_1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890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13"/>
          <p:cNvPicPr preferRelativeResize="0"/>
          <p:nvPr/>
        </p:nvPicPr>
        <p:blipFill rotWithShape="1">
          <a:blip r:embed="rId3">
            <a:alphaModFix/>
          </a:blip>
          <a:srcRect b="-3885" l="0" r="-3885" t="0"/>
          <a:stretch/>
        </p:blipFill>
        <p:spPr>
          <a:xfrm>
            <a:off x="496225" y="162850"/>
            <a:ext cx="3159750" cy="3266160"/>
          </a:xfrm>
          <a:prstGeom prst="rect">
            <a:avLst/>
          </a:prstGeom>
          <a:solidFill>
            <a:srgbClr val="FF8904"/>
          </a:solidFill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4208150" y="784102"/>
            <a:ext cx="5518200" cy="17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TIA LUCI</a:t>
            </a:r>
            <a:endParaRPr b="1" i="0" sz="79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Sitio web de recetas caseras</a:t>
            </a:r>
            <a:endParaRPr sz="2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47025" y="3988327"/>
            <a:ext cx="56190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Examen Final Integrador - Programación II</a:t>
            </a:r>
            <a:endParaRPr sz="2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247025" y="4961600"/>
            <a:ext cx="47625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lt1"/>
                </a:solidFill>
              </a:rPr>
              <a:t>Integrantes:</a:t>
            </a:r>
            <a:endParaRPr b="1"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US" sz="1600">
                <a:solidFill>
                  <a:schemeClr val="lt1"/>
                </a:solidFill>
              </a:rPr>
              <a:t>Emanuel Cepeda Caceres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US" sz="1600">
                <a:solidFill>
                  <a:schemeClr val="lt1"/>
                </a:solidFill>
              </a:rPr>
              <a:t>Ramon Joaquin Rodriguez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US" sz="1600">
                <a:solidFill>
                  <a:schemeClr val="lt1"/>
                </a:solidFill>
              </a:rPr>
              <a:t>Federico Ezequiel Arballo</a:t>
            </a:r>
            <a:endParaRPr sz="16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EFD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0" y="290425"/>
            <a:ext cx="9144000" cy="1371600"/>
          </a:xfrm>
          <a:prstGeom prst="rect">
            <a:avLst/>
          </a:prstGeom>
          <a:solidFill>
            <a:srgbClr val="FF890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313975" y="496195"/>
            <a:ext cx="8046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chemeClr val="lt1"/>
                </a:solidFill>
              </a:rPr>
              <a:t>¿Cuál es el objetivo principal de este proyecto?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07400" y="2056850"/>
            <a:ext cx="7854600" cy="42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Propósito del Proyecto: El Sitio Web de Recetas Favorito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Meta: Crear "tu sitio web de recetas caseras favorito", un repositorio centralizado de "deliciosas recetas, consejos de cocina y mucho más".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Análisis y Justificación: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○"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a Resolver: Los sitios de recetas actuales suelen ser lentos, confusos y estar saturados de anuncios.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○"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Solución Propuesta: Desarrollar un sitio web que sea limpio, accesible y rápido.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○"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Estrategia de Marca: Generar confianza en el usuario mediante una marca establecida (Tía Luci) y la provisión de contenido de alta calidad.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EFD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0" y="290425"/>
            <a:ext cx="9144000" cy="1371600"/>
          </a:xfrm>
          <a:prstGeom prst="rect">
            <a:avLst/>
          </a:prstGeom>
          <a:solidFill>
            <a:srgbClr val="FF890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313975" y="496195"/>
            <a:ext cx="8046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chemeClr val="lt1"/>
                </a:solidFill>
              </a:rPr>
              <a:t>¿Cuáles son sus características o funcionalidades clave?</a:t>
            </a:r>
            <a:endParaRPr b="0" i="0" sz="3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644700" y="2007125"/>
            <a:ext cx="7854600" cy="42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Características Destacadas del Proyecto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AutoNum type="arabicPeriod"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Diseño Adaptable (Responsive):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○"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Visualización óptima en cualquier dispositivo (móvil, tableta o escritorio).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AutoNum type="arabicPeriod"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Organización de Recetas por Categorías: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○"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Navegación sencilla y estructurada del contenido según el tipo de comida.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AutoNum type="arabicPeriod"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Búsqueda Detallada (Planeada):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○"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Capacidad futura de encontrar recetas filtrando por ingredientes, tiempo de preparación o nivel de dificultad.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AutoNum type="arabicPeriod"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Fomento de la Comunidad (Newsletter y Redes Sociales):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○"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Herramientas para construir una comunidad activa, incluyendo formulario de suscripción y enlaces a plataformas sociales.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ED6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890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6"/>
          <p:cNvSpPr txBox="1"/>
          <p:nvPr/>
        </p:nvSpPr>
        <p:spPr>
          <a:xfrm>
            <a:off x="365760" y="137160"/>
            <a:ext cx="841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Stack Tecnológico (Frontend)</a:t>
            </a:r>
            <a:endParaRPr/>
          </a:p>
        </p:txBody>
      </p:sp>
      <p:sp>
        <p:nvSpPr>
          <p:cNvPr id="111" name="Google Shape;111;p16"/>
          <p:cNvSpPr txBox="1"/>
          <p:nvPr/>
        </p:nvSpPr>
        <p:spPr>
          <a:xfrm>
            <a:off x="365750" y="1035325"/>
            <a:ext cx="8551800" cy="50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Estructura y Base Semántica: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HTML5: Es la base de todas las páginas del sitio (p. ej., index.html, recipes.html), proporcionando la estructura semántica esencial.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Estilos y Diseño (Moderno y Responsivo):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CSS3 con Tailwind CSS: Una decisión fundamental del proyecto. Se optó por este framework utility-first para conseguir un diseño moderno, flexible y completamente responsivo.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Interactividad y Funcionalidad: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JavaScript Vanilla: Se emplea JS "puro" (p. ej., menu.js) para implementar funcionalidades específicas, como el menú móvil, garantizando así un sitio web ligero y eficiente.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Elementos Visuales: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Font Awesome: Utilizado para integrar la iconografía y los elementos visuales en todo el sitio.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EFD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0" y="290425"/>
            <a:ext cx="9144000" cy="1371600"/>
          </a:xfrm>
          <a:prstGeom prst="rect">
            <a:avLst/>
          </a:prstGeom>
          <a:solidFill>
            <a:srgbClr val="FF890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7"/>
          <p:cNvSpPr txBox="1"/>
          <p:nvPr/>
        </p:nvSpPr>
        <p:spPr>
          <a:xfrm>
            <a:off x="369200" y="660778"/>
            <a:ext cx="80466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lt1"/>
                </a:solidFill>
              </a:rPr>
              <a:t>¿Hitos o Resultados Clave?</a:t>
            </a:r>
            <a:endParaRPr/>
          </a:p>
        </p:txBody>
      </p:sp>
      <p:sp>
        <p:nvSpPr>
          <p:cNvPr id="119" name="Google Shape;119;p17"/>
          <p:cNvSpPr txBox="1"/>
          <p:nvPr/>
        </p:nvSpPr>
        <p:spPr>
          <a:xfrm>
            <a:off x="179450" y="1835975"/>
            <a:ext cx="8319900" cy="44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Avances del Proyecto "Tía Luci"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Hito 1: Producto Mínimo Viable (MVP) Finalizado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○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completó el desarrollo de un sitio web estático, totalmente funcional y listo para despliegue.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○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sitio cumple con los requisitos iniciales, incluyendo diseño responsive y correcta categorización del contenido.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Hito 2: Establecimiento de la Identidad de Marca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○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definió la identidad de marca completa bajo el nombre "Tía Luci".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○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crearon y establecieron perfiles en redes sociales clave (Facebook, Instagram, YouTube), con la información de acceso detallada en el archivo.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Hito 3: Definición del Roadmap del Proyecto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○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archivo README fue actualizado para servir no solo como documentación de los logros actuales, sino también para delinear la hoja de ruta y el futuro plan de desarrollo del proyecto.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0DC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/>
          <p:nvPr/>
        </p:nvSpPr>
        <p:spPr>
          <a:xfrm>
            <a:off x="-9" y="177675"/>
            <a:ext cx="9144000" cy="904500"/>
          </a:xfrm>
          <a:prstGeom prst="rect">
            <a:avLst/>
          </a:prstGeom>
          <a:solidFill>
            <a:srgbClr val="EED6A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8"/>
          <p:cNvSpPr txBox="1"/>
          <p:nvPr/>
        </p:nvSpPr>
        <p:spPr>
          <a:xfrm>
            <a:off x="0" y="368325"/>
            <a:ext cx="836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8904"/>
                </a:solidFill>
                <a:latin typeface="Calibri"/>
                <a:ea typeface="Calibri"/>
                <a:cs typeface="Calibri"/>
                <a:sym typeface="Calibri"/>
              </a:rPr>
              <a:t>Ecosistema Digital y Comunidad</a:t>
            </a:r>
            <a:endParaRPr sz="300"/>
          </a:p>
        </p:txBody>
      </p:sp>
      <p:sp>
        <p:nvSpPr>
          <p:cNvPr id="126" name="Google Shape;126;p18"/>
          <p:cNvSpPr txBox="1"/>
          <p:nvPr/>
        </p:nvSpPr>
        <p:spPr>
          <a:xfrm>
            <a:off x="391650" y="1633875"/>
            <a:ext cx="8360700" cy="4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E2958"/>
                </a:solidFill>
                <a:latin typeface="Calibri"/>
                <a:ea typeface="Calibri"/>
                <a:cs typeface="Calibri"/>
                <a:sym typeface="Calibri"/>
              </a:rPr>
              <a:t>Estrategia Digital: Ecosistema Integral</a:t>
            </a:r>
            <a:endParaRPr sz="2200">
              <a:solidFill>
                <a:srgbClr val="1E295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E2958"/>
                </a:solidFill>
                <a:latin typeface="Calibri"/>
                <a:ea typeface="Calibri"/>
                <a:cs typeface="Calibri"/>
                <a:sym typeface="Calibri"/>
              </a:rPr>
              <a:t>La iniciativa se centra en el desarrollo de un </a:t>
            </a:r>
            <a:r>
              <a:rPr b="1" lang="en-US" sz="2200">
                <a:solidFill>
                  <a:srgbClr val="1E2958"/>
                </a:solidFill>
                <a:latin typeface="Calibri"/>
                <a:ea typeface="Calibri"/>
                <a:cs typeface="Calibri"/>
                <a:sym typeface="Calibri"/>
              </a:rPr>
              <a:t>ecosistema digital integral</a:t>
            </a:r>
            <a:r>
              <a:rPr lang="en-US" sz="2200">
                <a:solidFill>
                  <a:srgbClr val="1E2958"/>
                </a:solidFill>
                <a:latin typeface="Calibri"/>
                <a:ea typeface="Calibri"/>
                <a:cs typeface="Calibri"/>
                <a:sym typeface="Calibri"/>
              </a:rPr>
              <a:t>, trascendiendo la limitación de un simple sitio web aislado para maximizar el alcance.</a:t>
            </a:r>
            <a:endParaRPr sz="2200">
              <a:solidFill>
                <a:srgbClr val="1E295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1E295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E2958"/>
                </a:solidFill>
                <a:latin typeface="Calibri"/>
                <a:ea typeface="Calibri"/>
                <a:cs typeface="Calibri"/>
                <a:sym typeface="Calibri"/>
              </a:rPr>
              <a:t>Puntos Clave de Contacto</a:t>
            </a:r>
            <a:endParaRPr b="1" sz="2200">
              <a:solidFill>
                <a:srgbClr val="1E295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Clr>
                <a:srgbClr val="1E2958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rgbClr val="1E2958"/>
                </a:solidFill>
                <a:latin typeface="Calibri"/>
                <a:ea typeface="Calibri"/>
                <a:cs typeface="Calibri"/>
                <a:sym typeface="Calibri"/>
              </a:rPr>
              <a:t>📧 </a:t>
            </a:r>
            <a:r>
              <a:rPr b="1" lang="en-US" sz="2200">
                <a:solidFill>
                  <a:srgbClr val="1E2958"/>
                </a:solidFill>
                <a:latin typeface="Calibri"/>
                <a:ea typeface="Calibri"/>
                <a:cs typeface="Calibri"/>
                <a:sym typeface="Calibri"/>
              </a:rPr>
              <a:t>E-mail:</a:t>
            </a:r>
            <a:r>
              <a:rPr lang="en-US" sz="2200">
                <a:solidFill>
                  <a:srgbClr val="1E2958"/>
                </a:solidFill>
                <a:latin typeface="Calibri"/>
                <a:ea typeface="Calibri"/>
                <a:cs typeface="Calibri"/>
                <a:sym typeface="Calibri"/>
              </a:rPr>
              <a:t> tialucicocina@gmail.com</a:t>
            </a:r>
            <a:endParaRPr sz="2200">
              <a:solidFill>
                <a:srgbClr val="1E295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1E2958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rgbClr val="1E2958"/>
                </a:solidFill>
                <a:latin typeface="Calibri"/>
                <a:ea typeface="Calibri"/>
                <a:cs typeface="Calibri"/>
                <a:sym typeface="Calibri"/>
              </a:rPr>
              <a:t>📘 </a:t>
            </a:r>
            <a:r>
              <a:rPr b="1" lang="en-US" sz="2200">
                <a:solidFill>
                  <a:srgbClr val="1E2958"/>
                </a:solidFill>
                <a:latin typeface="Calibri"/>
                <a:ea typeface="Calibri"/>
                <a:cs typeface="Calibri"/>
                <a:sym typeface="Calibri"/>
              </a:rPr>
              <a:t>Facebook:</a:t>
            </a:r>
            <a:r>
              <a:rPr lang="en-US" sz="2200">
                <a:solidFill>
                  <a:srgbClr val="1E2958"/>
                </a:solidFill>
                <a:latin typeface="Calibri"/>
                <a:ea typeface="Calibri"/>
                <a:cs typeface="Calibri"/>
                <a:sym typeface="Calibri"/>
              </a:rPr>
              <a:t> Tía Luci Cocina</a:t>
            </a:r>
            <a:endParaRPr sz="2200">
              <a:solidFill>
                <a:srgbClr val="1E295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1E2958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rgbClr val="1E2958"/>
                </a:solidFill>
                <a:latin typeface="Calibri"/>
                <a:ea typeface="Calibri"/>
                <a:cs typeface="Calibri"/>
                <a:sym typeface="Calibri"/>
              </a:rPr>
              <a:t>📸 </a:t>
            </a:r>
            <a:r>
              <a:rPr b="1" lang="en-US" sz="2200">
                <a:solidFill>
                  <a:srgbClr val="1E2958"/>
                </a:solidFill>
                <a:latin typeface="Calibri"/>
                <a:ea typeface="Calibri"/>
                <a:cs typeface="Calibri"/>
                <a:sym typeface="Calibri"/>
              </a:rPr>
              <a:t>Instagram:</a:t>
            </a:r>
            <a:r>
              <a:rPr lang="en-US" sz="2200">
                <a:solidFill>
                  <a:srgbClr val="1E2958"/>
                </a:solidFill>
                <a:latin typeface="Calibri"/>
                <a:ea typeface="Calibri"/>
                <a:cs typeface="Calibri"/>
                <a:sym typeface="Calibri"/>
              </a:rPr>
              <a:t> @tialucicocina</a:t>
            </a:r>
            <a:endParaRPr sz="2200">
              <a:solidFill>
                <a:srgbClr val="1E295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1E2958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rgbClr val="1E2958"/>
                </a:solidFill>
                <a:latin typeface="Calibri"/>
                <a:ea typeface="Calibri"/>
                <a:cs typeface="Calibri"/>
                <a:sym typeface="Calibri"/>
              </a:rPr>
              <a:t>▶️ </a:t>
            </a:r>
            <a:r>
              <a:rPr b="1" lang="en-US" sz="2200">
                <a:solidFill>
                  <a:srgbClr val="1E2958"/>
                </a:solidFill>
                <a:latin typeface="Calibri"/>
                <a:ea typeface="Calibri"/>
                <a:cs typeface="Calibri"/>
                <a:sym typeface="Calibri"/>
              </a:rPr>
              <a:t>YouTube:</a:t>
            </a:r>
            <a:r>
              <a:rPr lang="en-US" sz="2200">
                <a:solidFill>
                  <a:srgbClr val="1E2958"/>
                </a:solidFill>
                <a:latin typeface="Calibri"/>
                <a:ea typeface="Calibri"/>
                <a:cs typeface="Calibri"/>
                <a:sym typeface="Calibri"/>
              </a:rPr>
              <a:t> Canal de Tía Luci</a:t>
            </a:r>
            <a:endParaRPr sz="2200">
              <a:solidFill>
                <a:srgbClr val="1E2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EFD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9"/>
          <p:cNvSpPr/>
          <p:nvPr/>
        </p:nvSpPr>
        <p:spPr>
          <a:xfrm>
            <a:off x="0" y="290425"/>
            <a:ext cx="9144000" cy="1371600"/>
          </a:xfrm>
          <a:prstGeom prst="rect">
            <a:avLst/>
          </a:prstGeom>
          <a:solidFill>
            <a:srgbClr val="FF890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9"/>
          <p:cNvSpPr txBox="1"/>
          <p:nvPr/>
        </p:nvSpPr>
        <p:spPr>
          <a:xfrm>
            <a:off x="369200" y="660778"/>
            <a:ext cx="80466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lt1"/>
                </a:solidFill>
              </a:rPr>
              <a:t>Próximas Mejoras a Realizar</a:t>
            </a:r>
            <a:endParaRPr b="0" i="0" sz="3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9"/>
          <p:cNvSpPr txBox="1"/>
          <p:nvPr/>
        </p:nvSpPr>
        <p:spPr>
          <a:xfrm>
            <a:off x="179450" y="1835975"/>
            <a:ext cx="8319900" cy="44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28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proyecto fue diseñado con escalabilidad en mente. El roadmap del proyecto,  contempla las siguientes fases: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1: Implementación del sistema de búsqueda (la etapa actual).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2: Expansión del contenido: incorporar más recetas y categorías.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3: Desarrollo de la sección "Blog" para ofrecer consejos adicionales.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4: Integración de un sistema de comentarios.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ED6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FF890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0"/>
          <p:cNvSpPr txBox="1"/>
          <p:nvPr/>
        </p:nvSpPr>
        <p:spPr>
          <a:xfrm>
            <a:off x="365750" y="137142"/>
            <a:ext cx="8412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Despliegue e Infraestructura (Propuesta Lógica)</a:t>
            </a:r>
            <a:endParaRPr sz="2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0"/>
          <p:cNvSpPr txBox="1"/>
          <p:nvPr/>
        </p:nvSpPr>
        <p:spPr>
          <a:xfrm>
            <a:off x="365750" y="1449450"/>
            <a:ext cx="8344800" cy="43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Estrategia de Despliegue y Presencia Online</a:t>
            </a:r>
            <a:endParaRPr b="1" sz="1700">
              <a:solidFill>
                <a:schemeClr val="dk1"/>
              </a:solidFill>
            </a:endParaRPr>
          </a:p>
          <a:p>
            <a:pPr indent="-2286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2286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Hosting: GitHub Pages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US" sz="1700">
                <a:solidFill>
                  <a:schemeClr val="dk1"/>
                </a:solidFill>
              </a:rPr>
              <a:t>Justificación:</a:t>
            </a:r>
            <a:r>
              <a:rPr lang="en-US" sz="1700">
                <a:solidFill>
                  <a:schemeClr val="dk1"/>
                </a:solidFill>
              </a:rPr>
              <a:t> Dada la naturaleza del proyecto (100% estático y alojado en GitHub), la solución de despliegue más lógica y eficiente es GitHub Pages.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US" sz="1700">
                <a:solidFill>
                  <a:schemeClr val="dk1"/>
                </a:solidFill>
              </a:rPr>
              <a:t>Costo:</a:t>
            </a:r>
            <a:r>
              <a:rPr lang="en-US" sz="1700">
                <a:solidFill>
                  <a:schemeClr val="dk1"/>
                </a:solidFill>
              </a:rPr>
              <a:t> $0 (Gratuito).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Dominio: NIC.ar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US" sz="1700">
                <a:solidFill>
                  <a:schemeClr val="dk1"/>
                </a:solidFill>
              </a:rPr>
              <a:t>Propuesta:</a:t>
            </a:r>
            <a:r>
              <a:rPr lang="en-US" sz="1700">
                <a:solidFill>
                  <a:schemeClr val="dk1"/>
                </a:solidFill>
              </a:rPr>
              <a:t> Registrar el dominio </a:t>
            </a:r>
            <a:r>
              <a:rPr i="1" lang="en-US" sz="1700">
                <a:solidFill>
                  <a:schemeClr val="dk1"/>
                </a:solidFill>
              </a:rPr>
              <a:t>tialuci.com.ar</a:t>
            </a:r>
            <a:r>
              <a:rPr lang="en-US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US" sz="1700">
                <a:solidFill>
                  <a:schemeClr val="dk1"/>
                </a:solidFill>
              </a:rPr>
              <a:t>Justificación:</a:t>
            </a:r>
            <a:r>
              <a:rPr lang="en-US" sz="1700">
                <a:solidFill>
                  <a:schemeClr val="dk1"/>
                </a:solidFill>
              </a:rPr>
              <a:t> Esto aporta profesionalismo al proyecto y garantiza una identidad de marca coherente con los perfiles de redes sociales.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US" sz="1700">
                <a:solidFill>
                  <a:schemeClr val="dk1"/>
                </a:solidFill>
              </a:rPr>
              <a:t>Costo Anual:</a:t>
            </a:r>
            <a:r>
              <a:rPr lang="en-US" sz="1700">
                <a:solidFill>
                  <a:schemeClr val="dk1"/>
                </a:solidFill>
              </a:rPr>
              <a:t> </a:t>
            </a:r>
            <a:r>
              <a:rPr b="1" lang="en-US" sz="1700">
                <a:solidFill>
                  <a:schemeClr val="dk1"/>
                </a:solidFill>
              </a:rPr>
              <a:t>$8.500 ARS.</a:t>
            </a:r>
            <a:endParaRPr b="1"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i="1" lang="en-US" sz="1700">
                <a:solidFill>
                  <a:schemeClr val="dk1"/>
                </a:solidFill>
              </a:rPr>
              <a:t>(Detalle: Tarifa oficial de NIC.ar para alta y renovación de dominios .com.ar, vigente a Noviembre de 2025).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ED6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FF890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1"/>
          <p:cNvSpPr txBox="1"/>
          <p:nvPr/>
        </p:nvSpPr>
        <p:spPr>
          <a:xfrm>
            <a:off x="365760" y="137160"/>
            <a:ext cx="8412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4E5"/>
                </a:solidFill>
              </a:rPr>
              <a:t>Concluciones </a:t>
            </a:r>
            <a:endParaRPr sz="3200">
              <a:solidFill>
                <a:srgbClr val="FFF4E5"/>
              </a:solidFill>
            </a:endParaRPr>
          </a:p>
        </p:txBody>
      </p:sp>
      <p:sp>
        <p:nvSpPr>
          <p:cNvPr id="148" name="Google Shape;148;p21"/>
          <p:cNvSpPr txBox="1"/>
          <p:nvPr/>
        </p:nvSpPr>
        <p:spPr>
          <a:xfrm>
            <a:off x="365750" y="1035325"/>
            <a:ext cx="8551800" cy="50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   Evaluación del Proyecto y Repositorio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El repositorio  alberga un proyecto frontend que destaca por su solidez, modernidad y documentación exhaustiva.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La selección tecnológica (en particular Tailwind CSS y JavaScript Vanilla) se valida al ofrecer un sitio web rápido, limpio y de alto rendimiento, alineado con los objetivos del proyecto.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>
                <a:solidFill>
                  <a:schemeClr val="dk1"/>
                </a:solidFill>
              </a:rPr>
              <a:t>Logro de los Objetivos del E.F.I.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Producto Mínimo Viable (MVP): El sitio web desarrollado es completamente funcional, cumple con los requisitos iniciales (diseño responsive, categorización) y se encuentra listo para su puesta en producción.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Escalabilidad Futura: El proyecto está diseñado para crecer, contando con un plan de escalabilidad definido que se detalla en el archivo README.md (Roadmap).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Integración de Competencias: El E.F.I. evidencia la aplicación exitosa y la integración coherente de todas las tecnologías y habilidades adquiridas en la materia (HTML, CSS, JS, Git) en la construcción del producto final.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